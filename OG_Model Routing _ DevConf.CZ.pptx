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Montserrat SemiBold"/>
      <p:regular r:id="rId29"/>
      <p:bold r:id="rId30"/>
      <p:italic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Montserrat Medium"/>
      <p:regular r:id="rId37"/>
      <p:bold r:id="rId38"/>
      <p:italic r:id="rId39"/>
      <p:boldItalic r:id="rId40"/>
    </p:embeddedFont>
    <p:embeddedFont>
      <p:font typeface="Montserrat Light"/>
      <p:regular r:id="rId41"/>
      <p:bold r:id="rId42"/>
      <p:italic r:id="rId43"/>
      <p:boldItalic r:id="rId44"/>
    </p:embeddedFont>
    <p:embeddedFont>
      <p:font typeface="Montserrat ExtraBold"/>
      <p:bold r:id="rId45"/>
      <p:boldItalic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86366E-AF51-43F1-94F2-FB0FE6263C22}">
  <a:tblStyle styleId="{F786366E-AF51-43F1-94F2-FB0FE6263C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boldItalic.fntdata"/><Relationship Id="rId42" Type="http://schemas.openxmlformats.org/officeDocument/2006/relationships/font" Target="fonts/MontserratLight-bold.fntdata"/><Relationship Id="rId41" Type="http://schemas.openxmlformats.org/officeDocument/2006/relationships/font" Target="fonts/MontserratLight-regular.fntdata"/><Relationship Id="rId44" Type="http://schemas.openxmlformats.org/officeDocument/2006/relationships/font" Target="fonts/MontserratLight-boldItalic.fntdata"/><Relationship Id="rId43" Type="http://schemas.openxmlformats.org/officeDocument/2006/relationships/font" Target="fonts/MontserratLight-italic.fntdata"/><Relationship Id="rId46" Type="http://schemas.openxmlformats.org/officeDocument/2006/relationships/font" Target="fonts/MontserratExtraBold-boldItalic.fntdata"/><Relationship Id="rId45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italic.fntdata"/><Relationship Id="rId30" Type="http://schemas.openxmlformats.org/officeDocument/2006/relationships/font" Target="fonts/MontserratSemiBold-bold.fntdata"/><Relationship Id="rId33" Type="http://schemas.openxmlformats.org/officeDocument/2006/relationships/font" Target="fonts/Montserrat-regular.fntdata"/><Relationship Id="rId32" Type="http://schemas.openxmlformats.org/officeDocument/2006/relationships/font" Target="fonts/MontserratSemiBold-boldItalic.fntdata"/><Relationship Id="rId35" Type="http://schemas.openxmlformats.org/officeDocument/2006/relationships/font" Target="fonts/Montserrat-italic.fntdata"/><Relationship Id="rId34" Type="http://schemas.openxmlformats.org/officeDocument/2006/relationships/font" Target="fonts/Montserrat-bold.fntdata"/><Relationship Id="rId37" Type="http://schemas.openxmlformats.org/officeDocument/2006/relationships/font" Target="fonts/MontserratMedium-regular.fntdata"/><Relationship Id="rId36" Type="http://schemas.openxmlformats.org/officeDocument/2006/relationships/font" Target="fonts/Montserrat-boldItalic.fntdata"/><Relationship Id="rId39" Type="http://schemas.openxmlformats.org/officeDocument/2006/relationships/font" Target="fonts/MontserratMedium-italic.fntdata"/><Relationship Id="rId38" Type="http://schemas.openxmlformats.org/officeDocument/2006/relationships/font" Target="fonts/Montserrat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MontserratSemiBold-regular.fntdata"/><Relationship Id="rId5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404890b01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404890b01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c2d8afa1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c2d8afa1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b2670aa36_0_2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b2670aa36_0_2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b2670aa36_0_2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b2670aa36_0_2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b2670aa36_0_2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eb2670aa36_0_2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fd099b6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fd099b6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c2d8afa17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c2d8afa17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fd099b65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fd099b65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b2670aa36_0_1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b2670aa36_0_1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b2670aa36_0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b2670aa36_0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fd099b65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fd099b65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b2670aa36_0_1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b2670aa36_0_1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fd099b65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dfd099b65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dcf17b5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dcf17b5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0ca89c01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0ca89c01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b2670aa36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b2670aa36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dcf17b5b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dcf17b5b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dfd099b65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dfd099b65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b2670aa36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b2670aa36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fd099b65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fd099b65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970bbfe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970bbfe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d404890b01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d404890b01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12049" r="0" t="0"/>
          <a:stretch/>
        </p:blipFill>
        <p:spPr>
          <a:xfrm>
            <a:off x="0" y="-63937"/>
            <a:ext cx="9229542" cy="524591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title"/>
          </p:nvPr>
        </p:nvSpPr>
        <p:spPr>
          <a:xfrm>
            <a:off x="3210996" y="1805775"/>
            <a:ext cx="5334600" cy="116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Montserrat SemiBold"/>
              <a:buNone/>
              <a:defRPr sz="3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Font typeface="Montserrat SemiBold"/>
              <a:buNone/>
              <a:defRPr sz="38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210372" y="3091519"/>
            <a:ext cx="5335500" cy="3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339" y="329512"/>
            <a:ext cx="4109016" cy="116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7013673" y="4006819"/>
            <a:ext cx="1520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690605" y="4006819"/>
            <a:ext cx="15207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">
  <p:cSld name="CUSTOM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(two columns)">
  <p:cSld name="CUSTOM_1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643492" y="426919"/>
            <a:ext cx="7543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643492" y="1640996"/>
            <a:ext cx="35166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643492" y="1197666"/>
            <a:ext cx="35166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3" type="body"/>
          </p:nvPr>
        </p:nvSpPr>
        <p:spPr>
          <a:xfrm>
            <a:off x="4670200" y="1640987"/>
            <a:ext cx="35166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4" type="subTitle"/>
          </p:nvPr>
        </p:nvSpPr>
        <p:spPr>
          <a:xfrm>
            <a:off x="4670200" y="1197656"/>
            <a:ext cx="35166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8" name="Google Shape;28;p4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idx="5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(three columns)">
  <p:cSld name="CUSTOM_1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643492" y="426919"/>
            <a:ext cx="81123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643492" y="1640997"/>
            <a:ext cx="24657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643492" y="1197666"/>
            <a:ext cx="24657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3" type="body"/>
          </p:nvPr>
        </p:nvSpPr>
        <p:spPr>
          <a:xfrm>
            <a:off x="3466861" y="1640988"/>
            <a:ext cx="24657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4" type="subTitle"/>
          </p:nvPr>
        </p:nvSpPr>
        <p:spPr>
          <a:xfrm>
            <a:off x="3466861" y="1197656"/>
            <a:ext cx="24657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5" type="subTitle"/>
          </p:nvPr>
        </p:nvSpPr>
        <p:spPr>
          <a:xfrm>
            <a:off x="6290229" y="1197666"/>
            <a:ext cx="24657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6" type="body"/>
          </p:nvPr>
        </p:nvSpPr>
        <p:spPr>
          <a:xfrm>
            <a:off x="6290229" y="1640997"/>
            <a:ext cx="24657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40" name="Google Shape;4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>
            <p:ph idx="7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 slide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" type="body"/>
          </p:nvPr>
        </p:nvSpPr>
        <p:spPr>
          <a:xfrm>
            <a:off x="628732" y="1370550"/>
            <a:ext cx="6060900" cy="31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■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7500" lvl="1" marL="9144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Light"/>
              <a:buChar char="⚬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7500" lvl="2" marL="13716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■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7500" lvl="3" marL="18288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●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7500" lvl="4" marL="22860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○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7500" lvl="5" marL="27432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■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7500" lvl="6" marL="32004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●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7500" lvl="7" marL="3657600" rtl="0">
              <a:lnSpc>
                <a:spcPct val="125000"/>
              </a:lnSpc>
              <a:spcBef>
                <a:spcPts val="1500"/>
              </a:spcBef>
              <a:spcAft>
                <a:spcPts val="0"/>
              </a:spcAft>
              <a:buSzPts val="1400"/>
              <a:buFont typeface="Montserrat Light"/>
              <a:buChar char="○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7500" lvl="8" marL="4114800" rtl="0">
              <a:lnSpc>
                <a:spcPct val="125000"/>
              </a:lnSpc>
              <a:spcBef>
                <a:spcPts val="1500"/>
              </a:spcBef>
              <a:spcAft>
                <a:spcPts val="1500"/>
              </a:spcAft>
              <a:buSzPts val="1400"/>
              <a:buFont typeface="Montserrat Light"/>
              <a:buChar char="■"/>
              <a:defRPr sz="14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643492" y="426919"/>
            <a:ext cx="6060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2" type="subTitle"/>
          </p:nvPr>
        </p:nvSpPr>
        <p:spPr>
          <a:xfrm>
            <a:off x="643492" y="999544"/>
            <a:ext cx="606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6" name="Google Shape;46;p6"/>
          <p:cNvSpPr/>
          <p:nvPr/>
        </p:nvSpPr>
        <p:spPr>
          <a:xfrm flipH="1">
            <a:off x="8037030" y="-35512"/>
            <a:ext cx="1151100" cy="52359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5982" y="426924"/>
            <a:ext cx="553002" cy="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>
  <p:cSld name="CUSTOM_1_1_2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title"/>
          </p:nvPr>
        </p:nvSpPr>
        <p:spPr>
          <a:xfrm>
            <a:off x="643492" y="426919"/>
            <a:ext cx="7543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" type="body"/>
          </p:nvPr>
        </p:nvSpPr>
        <p:spPr>
          <a:xfrm>
            <a:off x="643492" y="1910491"/>
            <a:ext cx="3516600" cy="23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2" type="subTitle"/>
          </p:nvPr>
        </p:nvSpPr>
        <p:spPr>
          <a:xfrm>
            <a:off x="643492" y="1512421"/>
            <a:ext cx="3516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3" type="body"/>
          </p:nvPr>
        </p:nvSpPr>
        <p:spPr>
          <a:xfrm>
            <a:off x="4670200" y="1910483"/>
            <a:ext cx="3516600" cy="23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 algn="ctr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4" type="subTitle"/>
          </p:nvPr>
        </p:nvSpPr>
        <p:spPr>
          <a:xfrm>
            <a:off x="4670200" y="1512412"/>
            <a:ext cx="3516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 SemiBold"/>
              <a:buNone/>
              <a:defRPr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Font typeface="Montserrat SemiBold"/>
              <a:buNone/>
              <a:defRPr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cxnSp>
        <p:nvCxnSpPr>
          <p:cNvPr id="56" name="Google Shape;56;p7"/>
          <p:cNvCxnSpPr/>
          <p:nvPr/>
        </p:nvCxnSpPr>
        <p:spPr>
          <a:xfrm>
            <a:off x="4420987" y="1572600"/>
            <a:ext cx="0" cy="2481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" name="Google Shape;57;p7"/>
          <p:cNvSpPr txBox="1"/>
          <p:nvPr>
            <p:ph idx="5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(branded)">
  <p:cSld name="MAIN_POI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8"/>
          <p:cNvPicPr preferRelativeResize="0"/>
          <p:nvPr/>
        </p:nvPicPr>
        <p:blipFill rotWithShape="1">
          <a:blip r:embed="rId2">
            <a:alphaModFix/>
          </a:blip>
          <a:srcRect b="0" l="12049" r="0" t="0"/>
          <a:stretch/>
        </p:blipFill>
        <p:spPr>
          <a:xfrm>
            <a:off x="0" y="-63937"/>
            <a:ext cx="9229542" cy="524591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 txBox="1"/>
          <p:nvPr>
            <p:ph type="title"/>
          </p:nvPr>
        </p:nvSpPr>
        <p:spPr>
          <a:xfrm>
            <a:off x="2875732" y="1623038"/>
            <a:ext cx="5436300" cy="135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Montserrat SemiBold"/>
              <a:buNone/>
              <a:defRPr sz="33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ation slide">
  <p:cSld name="MAIN_POINT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9"/>
          <p:cNvPicPr preferRelativeResize="0"/>
          <p:nvPr/>
        </p:nvPicPr>
        <p:blipFill rotWithShape="1">
          <a:blip r:embed="rId2">
            <a:alphaModFix/>
          </a:blip>
          <a:srcRect b="0" l="12049" r="0" t="0"/>
          <a:stretch/>
        </p:blipFill>
        <p:spPr>
          <a:xfrm>
            <a:off x="0" y="-63937"/>
            <a:ext cx="9229542" cy="524591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type="title"/>
          </p:nvPr>
        </p:nvSpPr>
        <p:spPr>
          <a:xfrm>
            <a:off x="1890998" y="1623038"/>
            <a:ext cx="4662300" cy="135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 SemiBold"/>
              <a:buNone/>
              <a:defRPr sz="21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64" name="Google Shape;64;p9"/>
          <p:cNvCxnSpPr/>
          <p:nvPr/>
        </p:nvCxnSpPr>
        <p:spPr>
          <a:xfrm>
            <a:off x="6853189" y="1825331"/>
            <a:ext cx="0" cy="879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tended quotation slide">
  <p:cSld name="ONE_COLUMN_TEXT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580345" y="1062600"/>
            <a:ext cx="6383400" cy="24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sz="1700">
                <a:solidFill>
                  <a:schemeClr val="dk2"/>
                </a:solidFill>
              </a:defRPr>
            </a:lvl1pPr>
            <a:lvl2pPr lvl="1">
              <a:spcBef>
                <a:spcPts val="150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None/>
              <a:defRPr sz="17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3560278" y="3631088"/>
            <a:ext cx="3423300" cy="4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r">
              <a:spcBef>
                <a:spcPts val="40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r">
              <a:spcBef>
                <a:spcPts val="400"/>
              </a:spcBef>
              <a:spcAft>
                <a:spcPts val="4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8" name="Google Shape;68;p10"/>
          <p:cNvSpPr txBox="1"/>
          <p:nvPr>
            <p:ph idx="2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None/>
              <a:defRPr sz="600"/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/>
        </p:nvSpPr>
        <p:spPr>
          <a:xfrm flipH="1">
            <a:off x="8037030" y="0"/>
            <a:ext cx="1151100" cy="51720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70" name="Google Shape;7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35982" y="426924"/>
            <a:ext cx="553002" cy="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 slide">
  <p:cSld name="CUSTOM_1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3012" y="4879810"/>
            <a:ext cx="85535" cy="6855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type="title"/>
          </p:nvPr>
        </p:nvSpPr>
        <p:spPr>
          <a:xfrm>
            <a:off x="643492" y="426919"/>
            <a:ext cx="36993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None/>
              <a:defRPr sz="1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Montserrat Medium"/>
              <a:buNone/>
              <a:defRPr sz="1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643492" y="1442871"/>
            <a:ext cx="36993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⚬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lnSpc>
                <a:spcPct val="135000"/>
              </a:lnSpc>
              <a:spcBef>
                <a:spcPts val="150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lnSpc>
                <a:spcPct val="135000"/>
              </a:lnSpc>
              <a:spcBef>
                <a:spcPts val="1500"/>
              </a:spcBef>
              <a:spcAft>
                <a:spcPts val="150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75" name="Google Shape;75;p11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2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3" type="subTitle"/>
          </p:nvPr>
        </p:nvSpPr>
        <p:spPr>
          <a:xfrm>
            <a:off x="643492" y="999541"/>
            <a:ext cx="36993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100"/>
              <a:buNone/>
              <a:defRPr sz="11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slide (blue)">
  <p:cSld name="MAIN_POINT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/>
        </p:nvSpPr>
        <p:spPr>
          <a:xfrm>
            <a:off x="-19" y="0"/>
            <a:ext cx="9144000" cy="5143500"/>
          </a:xfrm>
          <a:prstGeom prst="rect">
            <a:avLst/>
          </a:prstGeom>
          <a:solidFill>
            <a:srgbClr val="00ADDC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Font typeface="Montserrat"/>
              <a:buNone/>
              <a:defRPr sz="53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2" name="Google Shape;82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6220" y="4288224"/>
            <a:ext cx="553002" cy="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slide (pink)">
  <p:cSld name="MAIN_POINT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-19" y="0"/>
            <a:ext cx="9144000" cy="5143500"/>
          </a:xfrm>
          <a:prstGeom prst="rect">
            <a:avLst/>
          </a:prstGeom>
          <a:solidFill>
            <a:srgbClr val="FF0099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9pPr>
          </a:lstStyle>
          <a:p/>
        </p:txBody>
      </p:sp>
      <p:pic>
        <p:nvPicPr>
          <p:cNvPr id="86" name="Google Shape;8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6220" y="4288224"/>
            <a:ext cx="553002" cy="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slide (purple)">
  <p:cSld name="MAIN_POINT_1_1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-19" y="0"/>
            <a:ext cx="9144000" cy="51435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9pPr>
          </a:lstStyle>
          <a:p/>
        </p:txBody>
      </p:sp>
      <p:pic>
        <p:nvPicPr>
          <p:cNvPr id="90" name="Google Shape;9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6220" y="4288224"/>
            <a:ext cx="553002" cy="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statement slide (green)">
  <p:cSld name="MAIN_POINT_1_1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/>
        </p:nvSpPr>
        <p:spPr>
          <a:xfrm>
            <a:off x="-19" y="0"/>
            <a:ext cx="9144000" cy="5143500"/>
          </a:xfrm>
          <a:prstGeom prst="rect">
            <a:avLst/>
          </a:prstGeom>
          <a:solidFill>
            <a:srgbClr val="71DB67"/>
          </a:solidFill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3" name="Google Shape;9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300"/>
              <a:buNone/>
              <a:defRPr b="1" sz="5300">
                <a:solidFill>
                  <a:schemeClr val="accent6"/>
                </a:solidFill>
              </a:defRPr>
            </a:lvl9pPr>
          </a:lstStyle>
          <a:p/>
        </p:txBody>
      </p:sp>
      <p:pic>
        <p:nvPicPr>
          <p:cNvPr id="94" name="Google Shape;94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6220" y="4288224"/>
            <a:ext cx="553002" cy="5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1">
  <p:cSld name="Default slide (g3eb2670aa36_7_0)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98" name="Google Shape;98;p16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6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2">
  <p:cSld name="Default slide (g3eb2670aa36_14_0)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3">
  <p:cSld name="Default slide (g3eb2670aa36_21_0)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4">
  <p:cSld name="Default slide (g3eb2670aa36_28_0)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3" name="Google Shape;113;p19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5">
  <p:cSld name="Default slide (g3eb2670aa36_42_0)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18" name="Google Shape;118;p20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9" name="Google Shape;119;p20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6">
  <p:cSld name="Default slide (g3eb2670aa36_49_0)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7">
  <p:cSld name="Default slide (g3eb2670aa36_56_0)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slide 8">
  <p:cSld name="Default slide (g3eb2670aa36_77_0)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2700"/>
              <a:buFont typeface="Montserrat Medium"/>
              <a:buNone/>
              <a:defRPr sz="2700">
                <a:solidFill>
                  <a:srgbClr val="8E83E4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ontserrat Medium"/>
              <a:buNone/>
              <a:defRPr sz="27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643492" y="1442874"/>
            <a:ext cx="6757500" cy="26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⚬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●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○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>
              <a:lnSpc>
                <a:spcPct val="135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Montserrat Light"/>
              <a:buChar char="■"/>
              <a:defRPr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subTitle"/>
          </p:nvPr>
        </p:nvSpPr>
        <p:spPr>
          <a:xfrm>
            <a:off x="643492" y="999543"/>
            <a:ext cx="67575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/>
            </a:lvl1pPr>
            <a:lvl2pPr lvl="1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400"/>
              </a:spcBef>
              <a:spcAft>
                <a:spcPts val="400"/>
              </a:spcAft>
              <a:buClr>
                <a:schemeClr val="accent2"/>
              </a:buClr>
              <a:buSzPts val="12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>
                <a:solidFill>
                  <a:schemeClr val="lt1"/>
                </a:solidFill>
              </a:defRPr>
            </a:lvl1pPr>
            <a:lvl2pPr lvl="1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400"/>
              </a:spcBef>
              <a:spcAft>
                <a:spcPts val="4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E83E4"/>
              </a:buClr>
              <a:buSzPts val="3000"/>
              <a:buFont typeface="Montserrat"/>
              <a:buNone/>
              <a:defRPr sz="3000">
                <a:solidFill>
                  <a:srgbClr val="8E83E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04800" lvl="0" marL="4572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8E83E4"/>
              </a:buClr>
              <a:buSzPts val="1200"/>
              <a:buFont typeface="Montserrat"/>
              <a:buChar char="■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⚬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8E83E4"/>
              </a:buClr>
              <a:buSzPts val="1200"/>
              <a:buFont typeface="Montserrat"/>
              <a:buChar char="■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○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■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●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Char char="○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  <a:buClr>
                <a:schemeClr val="dk2"/>
              </a:buClr>
              <a:buSzPts val="1200"/>
              <a:buFont typeface="Montserrat"/>
              <a:buChar char="■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Relationship Id="rId4" Type="http://schemas.openxmlformats.org/officeDocument/2006/relationships/image" Target="../media/image17.jpg"/><Relationship Id="rId5" Type="http://schemas.openxmlformats.org/officeDocument/2006/relationships/image" Target="../media/image1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jpg"/><Relationship Id="rId4" Type="http://schemas.openxmlformats.org/officeDocument/2006/relationships/image" Target="../media/image2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Relationship Id="rId4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Relationship Id="rId4" Type="http://schemas.openxmlformats.org/officeDocument/2006/relationships/image" Target="../media/image2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1989701" y="1475550"/>
            <a:ext cx="6605700" cy="1165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50% Cheaper Agent </a:t>
            </a:r>
            <a:endParaRPr/>
          </a:p>
        </p:txBody>
      </p:sp>
      <p:sp>
        <p:nvSpPr>
          <p:cNvPr id="140" name="Google Shape;140;p24"/>
          <p:cNvSpPr txBox="1"/>
          <p:nvPr>
            <p:ph idx="1" type="subTitle"/>
          </p:nvPr>
        </p:nvSpPr>
        <p:spPr>
          <a:xfrm>
            <a:off x="3210372" y="3091519"/>
            <a:ext cx="5335500" cy="3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0" lvl="0" marL="0" rtl="0" algn="r">
              <a:spcBef>
                <a:spcPts val="400"/>
              </a:spcBef>
              <a:spcAft>
                <a:spcPts val="400"/>
              </a:spcAft>
              <a:buNone/>
            </a:pPr>
            <a:r>
              <a:rPr lang="en"/>
              <a:t>Autonomous LLM </a:t>
            </a:r>
            <a:r>
              <a:rPr lang="en"/>
              <a:t>routing</a:t>
            </a:r>
            <a:r>
              <a:rPr lang="en"/>
              <a:t>  with Bayesian Bandits</a:t>
            </a:r>
            <a:endParaRPr/>
          </a:p>
        </p:txBody>
      </p:sp>
      <p:sp>
        <p:nvSpPr>
          <p:cNvPr id="141" name="Google Shape;141;p24"/>
          <p:cNvSpPr txBox="1"/>
          <p:nvPr>
            <p:ph idx="2" type="subTitle"/>
          </p:nvPr>
        </p:nvSpPr>
        <p:spPr>
          <a:xfrm>
            <a:off x="5848225" y="3957300"/>
            <a:ext cx="3256800" cy="7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/>
              <a:t>Shrinidhi Mahishi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/>
              <a:t>Principal Data Scientist</a:t>
            </a:r>
            <a:endParaRPr sz="1100"/>
          </a:p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/>
              <a:t>Red Hat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643500" y="410426"/>
            <a:ext cx="6757500" cy="63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What we will cover today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/>
        </p:nvSpPr>
        <p:spPr>
          <a:xfrm>
            <a:off x="698517" y="4459869"/>
            <a:ext cx="3361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79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698532" y="1184450"/>
            <a:ext cx="6060900" cy="31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Cost of Single-Model Routing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Challenges of Missing Labels in Production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Turning Telemetry into a Reward Signal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How Bayesian Bandits Make Routing Decisions</a:t>
            </a:r>
            <a:br>
              <a:rPr lang="en" sz="1500"/>
            </a:br>
            <a:endParaRPr sz="1500"/>
          </a:p>
          <a:p>
            <a:pPr indent="-2603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Production Hardening for Real-World Traffic</a:t>
            </a:r>
            <a:endParaRPr sz="1500"/>
          </a:p>
          <a:p>
            <a:pPr indent="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26035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Results, Limits and Future Work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One Model For Everything?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698517" y="4459869"/>
            <a:ext cx="3361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79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= Large Language Model</a:t>
            </a:r>
            <a:endParaRPr sz="79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79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5" name="Google Shape;155;p26"/>
          <p:cNvGrpSpPr/>
          <p:nvPr/>
        </p:nvGrpSpPr>
        <p:grpSpPr>
          <a:xfrm>
            <a:off x="638175" y="1333500"/>
            <a:ext cx="7867800" cy="2857500"/>
            <a:chOff x="638175" y="1333500"/>
            <a:chExt cx="7867800" cy="2857500"/>
          </a:xfrm>
        </p:grpSpPr>
        <p:sp>
          <p:nvSpPr>
            <p:cNvPr id="156" name="Google Shape;156;p26"/>
            <p:cNvSpPr/>
            <p:nvPr/>
          </p:nvSpPr>
          <p:spPr>
            <a:xfrm>
              <a:off x="638175" y="1333500"/>
              <a:ext cx="7867800" cy="2857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6"/>
            <p:cNvSpPr txBox="1"/>
            <p:nvPr/>
          </p:nvSpPr>
          <p:spPr>
            <a:xfrm>
              <a:off x="638175" y="1333500"/>
              <a:ext cx="7867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E293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The pitfalls of sending all LLM traffic through a single model</a:t>
              </a:r>
              <a:endParaRPr b="0" sz="1800">
                <a:solidFill>
                  <a:srgbClr val="1E293B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  <p:grpSp>
          <p:nvGrpSpPr>
            <p:cNvPr id="158" name="Google Shape;158;p26"/>
            <p:cNvGrpSpPr/>
            <p:nvPr/>
          </p:nvGrpSpPr>
          <p:grpSpPr>
            <a:xfrm>
              <a:off x="638175" y="2000250"/>
              <a:ext cx="2381400" cy="1905000"/>
              <a:chOff x="638175" y="2000250"/>
              <a:chExt cx="2381400" cy="1905000"/>
            </a:xfrm>
          </p:grpSpPr>
          <p:sp>
            <p:nvSpPr>
              <p:cNvPr id="159" name="Google Shape;159;p26"/>
              <p:cNvSpPr/>
              <p:nvPr/>
            </p:nvSpPr>
            <p:spPr>
              <a:xfrm>
                <a:off x="638175" y="2000250"/>
                <a:ext cx="2381400" cy="1905000"/>
              </a:xfrm>
              <a:prstGeom prst="roundRect">
                <a:avLst>
                  <a:gd fmla="val 8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26"/>
              <p:cNvSpPr txBox="1"/>
              <p:nvPr/>
            </p:nvSpPr>
            <p:spPr>
              <a:xfrm>
                <a:off x="638175" y="2000250"/>
                <a:ext cx="23814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>
                    <a:solidFill>
                      <a:srgbClr val="3D85C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trending_up</a:t>
                </a:r>
                <a:endParaRPr sz="4000">
                  <a:solidFill>
                    <a:srgbClr val="3D85C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Always Strongest</a:t>
                </a:r>
                <a:endParaRPr b="1"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EF4444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High Cost</a:t>
                </a:r>
                <a:endParaRPr b="0" sz="1200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1" name="Google Shape;161;p26"/>
            <p:cNvGrpSpPr/>
            <p:nvPr/>
          </p:nvGrpSpPr>
          <p:grpSpPr>
            <a:xfrm>
              <a:off x="3381375" y="2000250"/>
              <a:ext cx="2381400" cy="1905000"/>
              <a:chOff x="3381375" y="2000250"/>
              <a:chExt cx="2381400" cy="1905000"/>
            </a:xfrm>
          </p:grpSpPr>
          <p:sp>
            <p:nvSpPr>
              <p:cNvPr id="162" name="Google Shape;162;p26"/>
              <p:cNvSpPr/>
              <p:nvPr/>
            </p:nvSpPr>
            <p:spPr>
              <a:xfrm>
                <a:off x="3381375" y="2000250"/>
                <a:ext cx="2381400" cy="1905000"/>
              </a:xfrm>
              <a:prstGeom prst="roundRect">
                <a:avLst>
                  <a:gd fmla="val 8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26"/>
              <p:cNvSpPr txBox="1"/>
              <p:nvPr/>
            </p:nvSpPr>
            <p:spPr>
              <a:xfrm>
                <a:off x="3381375" y="2000250"/>
                <a:ext cx="23814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>
                    <a:solidFill>
                      <a:srgbClr val="93C47D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savings</a:t>
                </a:r>
                <a:endParaRPr sz="4000">
                  <a:solidFill>
                    <a:srgbClr val="93C47D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Always Cheapest</a:t>
                </a:r>
                <a:endParaRPr b="1"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F59E0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High Risk</a:t>
                </a:r>
                <a:endParaRPr b="0" sz="1200">
                  <a:solidFill>
                    <a:srgbClr val="F59E0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164" name="Google Shape;164;p26"/>
            <p:cNvGrpSpPr/>
            <p:nvPr/>
          </p:nvGrpSpPr>
          <p:grpSpPr>
            <a:xfrm>
              <a:off x="6124575" y="2000250"/>
              <a:ext cx="2381400" cy="1905000"/>
              <a:chOff x="6124575" y="2000250"/>
              <a:chExt cx="2381400" cy="1905000"/>
            </a:xfrm>
          </p:grpSpPr>
          <p:sp>
            <p:nvSpPr>
              <p:cNvPr id="165" name="Google Shape;165;p26"/>
              <p:cNvSpPr/>
              <p:nvPr/>
            </p:nvSpPr>
            <p:spPr>
              <a:xfrm>
                <a:off x="6124575" y="2000250"/>
                <a:ext cx="2381400" cy="1905000"/>
              </a:xfrm>
              <a:prstGeom prst="roundRect">
                <a:avLst>
                  <a:gd fmla="val 8000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26"/>
              <p:cNvSpPr txBox="1"/>
              <p:nvPr/>
            </p:nvSpPr>
            <p:spPr>
              <a:xfrm>
                <a:off x="6124575" y="2000250"/>
                <a:ext cx="23814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4000">
                    <a:solidFill>
                      <a:srgbClr val="E6913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</a:t>
                </a:r>
                <a:endParaRPr sz="4000">
                  <a:solidFill>
                    <a:srgbClr val="E6913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ctr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1E293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Hardcoded Rules</a:t>
                </a:r>
                <a:endParaRPr b="1" sz="1400">
                  <a:solidFill>
                    <a:srgbClr val="1E293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ctr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4748B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Go Stale</a:t>
                </a:r>
                <a:endParaRPr b="0" sz="12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643500" y="410426"/>
            <a:ext cx="6757500" cy="63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Why Routing Is Hard In Production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698517" y="4459869"/>
            <a:ext cx="3361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795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3" name="Google Shape;173;p27"/>
          <p:cNvGrpSpPr/>
          <p:nvPr/>
        </p:nvGrpSpPr>
        <p:grpSpPr>
          <a:xfrm>
            <a:off x="638175" y="1333500"/>
            <a:ext cx="3619500" cy="2667000"/>
            <a:chOff x="638175" y="1333500"/>
            <a:chExt cx="3619500" cy="2667000"/>
          </a:xfrm>
        </p:grpSpPr>
        <p:sp>
          <p:nvSpPr>
            <p:cNvPr id="174" name="Google Shape;174;p27"/>
            <p:cNvSpPr/>
            <p:nvPr/>
          </p:nvSpPr>
          <p:spPr>
            <a:xfrm>
              <a:off x="638175" y="1333500"/>
              <a:ext cx="3619500" cy="2667000"/>
            </a:xfrm>
            <a:prstGeom prst="roundRect">
              <a:avLst>
                <a:gd fmla="val 7142" name="adj"/>
              </a:avLst>
            </a:prstGeom>
            <a:solidFill>
              <a:srgbClr val="FCE5CD"/>
            </a:solidFill>
            <a:ln cap="flat" cmpd="sng" w="95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7"/>
            <p:cNvSpPr txBox="1"/>
            <p:nvPr/>
          </p:nvSpPr>
          <p:spPr>
            <a:xfrm>
              <a:off x="638175" y="1333500"/>
              <a:ext cx="36195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783F0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Research Assumption</a:t>
              </a:r>
              <a:endParaRPr b="1" sz="2000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783F0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Research Assumes Labels</a:t>
              </a:r>
              <a:endParaRPr b="0" sz="1400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783F0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- Production Usually Doesn’t Have Them</a:t>
              </a:r>
              <a:endParaRPr b="0" sz="1400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76" name="Google Shape;176;p27"/>
          <p:cNvGrpSpPr/>
          <p:nvPr/>
        </p:nvGrpSpPr>
        <p:grpSpPr>
          <a:xfrm>
            <a:off x="4667250" y="1333500"/>
            <a:ext cx="3810000" cy="2762400"/>
            <a:chOff x="4667250" y="1333500"/>
            <a:chExt cx="3810000" cy="2762400"/>
          </a:xfrm>
        </p:grpSpPr>
        <p:grpSp>
          <p:nvGrpSpPr>
            <p:cNvPr id="177" name="Google Shape;177;p27"/>
            <p:cNvGrpSpPr/>
            <p:nvPr/>
          </p:nvGrpSpPr>
          <p:grpSpPr>
            <a:xfrm>
              <a:off x="4667250" y="1333500"/>
              <a:ext cx="3810000" cy="476400"/>
              <a:chOff x="4667250" y="1333500"/>
              <a:chExt cx="3810000" cy="476400"/>
            </a:xfrm>
          </p:grpSpPr>
          <p:sp>
            <p:nvSpPr>
              <p:cNvPr id="178" name="Google Shape;178;p27"/>
              <p:cNvSpPr/>
              <p:nvPr/>
            </p:nvSpPr>
            <p:spPr>
              <a:xfrm>
                <a:off x="4667250" y="1333500"/>
                <a:ext cx="38100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7"/>
              <p:cNvSpPr txBox="1"/>
              <p:nvPr/>
            </p:nvSpPr>
            <p:spPr>
              <a:xfrm>
                <a:off x="4857750" y="133350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475569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No human labels</a:t>
                </a:r>
                <a:endParaRPr b="0" sz="1400">
                  <a:solidFill>
                    <a:srgbClr val="47556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80" name="Google Shape;180;p27"/>
            <p:cNvGrpSpPr/>
            <p:nvPr/>
          </p:nvGrpSpPr>
          <p:grpSpPr>
            <a:xfrm>
              <a:off x="4667250" y="1905000"/>
              <a:ext cx="3810000" cy="476400"/>
              <a:chOff x="4667250" y="1905000"/>
              <a:chExt cx="3810000" cy="476400"/>
            </a:xfrm>
          </p:grpSpPr>
          <p:sp>
            <p:nvSpPr>
              <p:cNvPr id="181" name="Google Shape;181;p27"/>
              <p:cNvSpPr/>
              <p:nvPr/>
            </p:nvSpPr>
            <p:spPr>
              <a:xfrm>
                <a:off x="4667250" y="1905000"/>
                <a:ext cx="38100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7"/>
              <p:cNvSpPr txBox="1"/>
              <p:nvPr/>
            </p:nvSpPr>
            <p:spPr>
              <a:xfrm>
                <a:off x="4857750" y="190500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66534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Provider drift</a:t>
                </a:r>
                <a:endParaRPr b="0" sz="1400">
                  <a:solidFill>
                    <a:srgbClr val="166534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83" name="Google Shape;183;p27"/>
            <p:cNvGrpSpPr/>
            <p:nvPr/>
          </p:nvGrpSpPr>
          <p:grpSpPr>
            <a:xfrm>
              <a:off x="4667250" y="2476500"/>
              <a:ext cx="3810000" cy="476400"/>
              <a:chOff x="4667250" y="2476500"/>
              <a:chExt cx="3810000" cy="476400"/>
            </a:xfrm>
          </p:grpSpPr>
          <p:sp>
            <p:nvSpPr>
              <p:cNvPr id="184" name="Google Shape;184;p27"/>
              <p:cNvSpPr/>
              <p:nvPr/>
            </p:nvSpPr>
            <p:spPr>
              <a:xfrm>
                <a:off x="4667250" y="2476500"/>
                <a:ext cx="38100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27"/>
              <p:cNvSpPr txBox="1"/>
              <p:nvPr/>
            </p:nvSpPr>
            <p:spPr>
              <a:xfrm>
                <a:off x="4857750" y="247650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92400E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Latency constraints</a:t>
                </a:r>
                <a:endParaRPr b="0" sz="1400">
                  <a:solidFill>
                    <a:srgbClr val="92400E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86" name="Google Shape;186;p27"/>
            <p:cNvGrpSpPr/>
            <p:nvPr/>
          </p:nvGrpSpPr>
          <p:grpSpPr>
            <a:xfrm>
              <a:off x="4667250" y="3048000"/>
              <a:ext cx="3810000" cy="476400"/>
              <a:chOff x="4667250" y="3048000"/>
              <a:chExt cx="3810000" cy="476400"/>
            </a:xfrm>
          </p:grpSpPr>
          <p:sp>
            <p:nvSpPr>
              <p:cNvPr id="187" name="Google Shape;187;p27"/>
              <p:cNvSpPr/>
              <p:nvPr/>
            </p:nvSpPr>
            <p:spPr>
              <a:xfrm>
                <a:off x="4667250" y="3048000"/>
                <a:ext cx="38100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DBEA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7"/>
              <p:cNvSpPr txBox="1"/>
              <p:nvPr/>
            </p:nvSpPr>
            <p:spPr>
              <a:xfrm>
                <a:off x="4857750" y="304800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1E40A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Reliability requirements</a:t>
                </a:r>
                <a:endParaRPr b="0" sz="1400">
                  <a:solidFill>
                    <a:srgbClr val="1E40A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  <p:grpSp>
          <p:nvGrpSpPr>
            <p:cNvPr id="189" name="Google Shape;189;p27"/>
            <p:cNvGrpSpPr/>
            <p:nvPr/>
          </p:nvGrpSpPr>
          <p:grpSpPr>
            <a:xfrm>
              <a:off x="4667250" y="3619500"/>
              <a:ext cx="3810000" cy="476400"/>
              <a:chOff x="4667250" y="3619500"/>
              <a:chExt cx="3810000" cy="476400"/>
            </a:xfrm>
          </p:grpSpPr>
          <p:sp>
            <p:nvSpPr>
              <p:cNvPr id="190" name="Google Shape;190;p27"/>
              <p:cNvSpPr/>
              <p:nvPr/>
            </p:nvSpPr>
            <p:spPr>
              <a:xfrm>
                <a:off x="4667250" y="3619500"/>
                <a:ext cx="38100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7"/>
              <p:cNvSpPr txBox="1"/>
              <p:nvPr/>
            </p:nvSpPr>
            <p:spPr>
              <a:xfrm>
                <a:off x="4857750" y="3619500"/>
                <a:ext cx="3429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6B21A8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Safety requirements</a:t>
                </a:r>
                <a:endParaRPr b="0" sz="1400">
                  <a:solidFill>
                    <a:srgbClr val="6B21A8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>
            <p:ph type="title"/>
          </p:nvPr>
        </p:nvSpPr>
        <p:spPr>
          <a:xfrm>
            <a:off x="643492" y="426919"/>
            <a:ext cx="7857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Reward From Telemetry</a:t>
            </a:r>
            <a:endParaRPr b="0" sz="3200">
              <a:solidFill>
                <a:srgbClr val="8E83E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9" name="Google Shape;199;p28"/>
          <p:cNvGrpSpPr/>
          <p:nvPr/>
        </p:nvGrpSpPr>
        <p:grpSpPr>
          <a:xfrm>
            <a:off x="642938" y="1333500"/>
            <a:ext cx="3619500" cy="1905000"/>
            <a:chOff x="642938" y="1333500"/>
            <a:chExt cx="3619500" cy="1905000"/>
          </a:xfrm>
        </p:grpSpPr>
        <p:sp>
          <p:nvSpPr>
            <p:cNvPr id="200" name="Google Shape;200;p28"/>
            <p:cNvSpPr/>
            <p:nvPr/>
          </p:nvSpPr>
          <p:spPr>
            <a:xfrm>
              <a:off x="642938" y="1333500"/>
              <a:ext cx="3619500" cy="1905000"/>
            </a:xfrm>
            <a:prstGeom prst="roundRect">
              <a:avLst>
                <a:gd fmla="val 8000" name="adj"/>
              </a:avLst>
            </a:prstGeom>
            <a:solidFill>
              <a:srgbClr val="FCE5CD"/>
            </a:solidFill>
            <a:ln cap="flat" cmpd="sng" w="9525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8"/>
            <p:cNvSpPr txBox="1"/>
            <p:nvPr/>
          </p:nvSpPr>
          <p:spPr>
            <a:xfrm>
              <a:off x="642938" y="133350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783F0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Reward Formula</a:t>
              </a:r>
              <a:endParaRPr b="1" sz="1600">
                <a:solidFill>
                  <a:srgbClr val="783F0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Reward = 0.50 * </a:t>
              </a:r>
              <a:r>
                <a:rPr b="0" lang="en" sz="1400">
                  <a:solidFill>
                    <a:srgbClr val="3D85C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Validity</a:t>
              </a:r>
              <a:endParaRPr b="0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>
                  <a:latin typeface="Courier New"/>
                  <a:ea typeface="Courier New"/>
                  <a:cs typeface="Courier New"/>
                  <a:sym typeface="Courier New"/>
                </a:rPr>
                <a:t>      </a:t>
              </a:r>
              <a:r>
                <a:rPr b="0" lang="en" sz="1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+ 0.30 * </a:t>
              </a:r>
              <a:r>
                <a:rPr b="0" lang="en" sz="1400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Latency</a:t>
              </a:r>
              <a:endParaRPr b="0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>
                  <a:latin typeface="Courier New"/>
                  <a:ea typeface="Courier New"/>
                  <a:cs typeface="Courier New"/>
                  <a:sym typeface="Courier New"/>
                </a:rPr>
                <a:t>    </a:t>
              </a:r>
              <a:r>
                <a:rPr b="0" lang="en" sz="14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+ 0.20 * </a:t>
              </a:r>
              <a:r>
                <a:rPr b="0" lang="en" sz="1400">
                  <a:solidFill>
                    <a:srgbClr val="E6913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Retry</a:t>
              </a:r>
              <a:endParaRPr b="0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2" name="Google Shape;202;p28"/>
          <p:cNvGrpSpPr/>
          <p:nvPr/>
        </p:nvGrpSpPr>
        <p:grpSpPr>
          <a:xfrm>
            <a:off x="642938" y="3524250"/>
            <a:ext cx="7858200" cy="571500"/>
            <a:chOff x="642938" y="3524250"/>
            <a:chExt cx="7858200" cy="571500"/>
          </a:xfrm>
        </p:grpSpPr>
        <p:sp>
          <p:nvSpPr>
            <p:cNvPr id="203" name="Google Shape;203;p28"/>
            <p:cNvSpPr/>
            <p:nvPr/>
          </p:nvSpPr>
          <p:spPr>
            <a:xfrm>
              <a:off x="642938" y="3524250"/>
              <a:ext cx="7858200" cy="571500"/>
            </a:xfrm>
            <a:prstGeom prst="roundRect">
              <a:avLst>
                <a:gd fmla="val 20000" name="adj"/>
              </a:avLst>
            </a:prstGeom>
            <a:solidFill>
              <a:srgbClr val="F3E8FF"/>
            </a:solidFill>
            <a:ln cap="flat" cmpd="sng" w="9525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8"/>
            <p:cNvSpPr txBox="1"/>
            <p:nvPr/>
          </p:nvSpPr>
          <p:spPr>
            <a:xfrm>
              <a:off x="642938" y="3524250"/>
              <a:ext cx="785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6B21A8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Telemetry becomes the learning signal.</a:t>
              </a:r>
              <a:endParaRPr b="0" sz="1400">
                <a:solidFill>
                  <a:srgbClr val="6B21A8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pic>
        <p:nvPicPr>
          <p:cNvPr id="205" name="Google Shape;20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2025" y="1383602"/>
            <a:ext cx="3219451" cy="1772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6450" y="1477575"/>
            <a:ext cx="866975" cy="1604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Reward From Telemetry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9"/>
          <p:cNvSpPr txBox="1"/>
          <p:nvPr>
            <p:ph idx="1" type="body"/>
          </p:nvPr>
        </p:nvSpPr>
        <p:spPr>
          <a:xfrm>
            <a:off x="643500" y="999625"/>
            <a:ext cx="8102700" cy="32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e labels and numbers bold in the graphs" id="213" name="Google Shape;21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00" y="966575"/>
            <a:ext cx="4216349" cy="175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e labels and numbers bold in the graphs" id="214" name="Google Shape;21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9850" y="999625"/>
            <a:ext cx="4019375" cy="175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e labels and numbers bold in the graphs" id="215" name="Google Shape;21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500" y="2759500"/>
            <a:ext cx="4216349" cy="15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643492" y="35026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What The Belief Looks Like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643500" y="1034825"/>
            <a:ext cx="7995300" cy="31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8476" y="2540750"/>
            <a:ext cx="2649200" cy="1621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30"/>
          <p:cNvGraphicFramePr/>
          <p:nvPr/>
        </p:nvGraphicFramePr>
        <p:xfrm>
          <a:off x="643501" y="10348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{F786366E-AF51-43F1-94F2-FB0FE6263C22}</a:tableStyleId>
              </a:tblPr>
              <a:tblGrid>
                <a:gridCol w="4170375"/>
              </a:tblGrid>
              <a:tr h="73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 Belief = Beta(⍺, β)</a:t>
                      </a:r>
                      <a:br>
                        <a:rPr b="1" lang="en" sz="900">
                          <a:solidFill>
                            <a:srgbClr val="0F172A"/>
                          </a:solidFill>
                        </a:rPr>
                      </a:b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 ⍺ = success evidence</a:t>
                      </a:r>
                      <a:br>
                        <a:rPr b="1" lang="en" sz="900">
                          <a:solidFill>
                            <a:srgbClr val="0F172A"/>
                          </a:solidFill>
                        </a:rPr>
                      </a:b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 β = failure evidence</a:t>
                      </a:r>
                      <a:br>
                        <a:rPr b="1" lang="en" sz="900">
                          <a:solidFill>
                            <a:srgbClr val="0F172A"/>
                          </a:solidFill>
                        </a:rPr>
                      </a:b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 Confidence = ⍺/(⍺ + β)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GPT-4o ~ Beta(8, 3)</a:t>
                      </a:r>
                      <a:br>
                        <a:rPr b="1" lang="en" sz="900">
                          <a:solidFill>
                            <a:srgbClr val="0F172A"/>
                          </a:solidFill>
                        </a:rPr>
                      </a:b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 Confidence = 8/(8+3) = 0.727</a:t>
                      </a:r>
                      <a:br>
                        <a:rPr b="1" lang="en" sz="900">
                          <a:solidFill>
                            <a:srgbClr val="0F172A"/>
                          </a:solidFill>
                        </a:rPr>
                      </a:br>
                      <a:r>
                        <a:rPr b="1" lang="en" sz="900">
                          <a:solidFill>
                            <a:srgbClr val="0F172A"/>
                          </a:solidFill>
                        </a:rPr>
                        <a:t> Router estimates GPT-4o quality ~ 0.73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make this graph smooth and clear" id="224" name="Google Shape;22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500" y="2609750"/>
            <a:ext cx="4170374" cy="162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643492" y="35026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What The Belief Looks Like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1"/>
          <p:cNvSpPr txBox="1"/>
          <p:nvPr>
            <p:ph idx="1" type="body"/>
          </p:nvPr>
        </p:nvSpPr>
        <p:spPr>
          <a:xfrm>
            <a:off x="643500" y="1034825"/>
            <a:ext cx="7995300" cy="31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e labels and numbers bold in the graphs" id="231" name="Google Shape;2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00" y="1034825"/>
            <a:ext cx="7995300" cy="319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237" name="Google Shape;23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2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>
                <a:solidFill>
                  <a:srgbClr val="8E83E4"/>
                </a:solidFill>
                <a:latin typeface="Montserrat"/>
                <a:ea typeface="Montserrat"/>
                <a:cs typeface="Montserrat"/>
                <a:sym typeface="Montserrat"/>
              </a:rPr>
              <a:t>Why Thompson Sampling</a:t>
            </a:r>
            <a:endParaRPr i="0"/>
          </a:p>
        </p:txBody>
      </p:sp>
      <p:grpSp>
        <p:nvGrpSpPr>
          <p:cNvPr id="239" name="Google Shape;239;p32"/>
          <p:cNvGrpSpPr/>
          <p:nvPr/>
        </p:nvGrpSpPr>
        <p:grpSpPr>
          <a:xfrm>
            <a:off x="557500" y="3566900"/>
            <a:ext cx="8029050" cy="571512"/>
            <a:chOff x="543475" y="4005675"/>
            <a:chExt cx="8029050" cy="571512"/>
          </a:xfrm>
        </p:grpSpPr>
        <p:sp>
          <p:nvSpPr>
            <p:cNvPr id="240" name="Google Shape;240;p32"/>
            <p:cNvSpPr/>
            <p:nvPr/>
          </p:nvSpPr>
          <p:spPr>
            <a:xfrm>
              <a:off x="543475" y="4005687"/>
              <a:ext cx="8001000" cy="571500"/>
            </a:xfrm>
            <a:prstGeom prst="roundRect">
              <a:avLst>
                <a:gd fmla="val 20000" name="adj"/>
              </a:avLst>
            </a:prstGeom>
            <a:solidFill>
              <a:srgbClr val="8E83E4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 txBox="1"/>
            <p:nvPr/>
          </p:nvSpPr>
          <p:spPr>
            <a:xfrm>
              <a:off x="571525" y="400567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E293B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Exploration is proportional to uncertainty.</a:t>
              </a:r>
              <a:endParaRPr b="0" sz="1600">
                <a:solidFill>
                  <a:srgbClr val="1E293B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42" name="Google Shape;242;p32"/>
          <p:cNvGrpSpPr/>
          <p:nvPr/>
        </p:nvGrpSpPr>
        <p:grpSpPr>
          <a:xfrm>
            <a:off x="571500" y="1263250"/>
            <a:ext cx="3857700" cy="2095500"/>
            <a:chOff x="571500" y="2000250"/>
            <a:chExt cx="3857700" cy="2095500"/>
          </a:xfrm>
        </p:grpSpPr>
        <p:sp>
          <p:nvSpPr>
            <p:cNvPr id="243" name="Google Shape;243;p32"/>
            <p:cNvSpPr/>
            <p:nvPr/>
          </p:nvSpPr>
          <p:spPr>
            <a:xfrm>
              <a:off x="571500" y="2000250"/>
              <a:ext cx="3857700" cy="20955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2"/>
            <p:cNvSpPr txBox="1"/>
            <p:nvPr/>
          </p:nvSpPr>
          <p:spPr>
            <a:xfrm>
              <a:off x="857250" y="2190750"/>
              <a:ext cx="3286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8E83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SELECTION RULE</a:t>
              </a:r>
              <a:endParaRPr b="1" sz="1400">
                <a:solidFill>
                  <a:srgbClr val="8E83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2"/>
            <p:cNvSpPr txBox="1"/>
            <p:nvPr/>
          </p:nvSpPr>
          <p:spPr>
            <a:xfrm>
              <a:off x="857250" y="2571750"/>
              <a:ext cx="32862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Montserrat"/>
                <a:buChar char="●"/>
              </a:pPr>
              <a:r>
                <a:rPr b="0" lang="en" sz="13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Draw one sample from each belief</a:t>
              </a:r>
              <a:endParaRPr b="0" sz="13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Montserrat"/>
                <a:buChar char="●"/>
              </a:pPr>
              <a:r>
                <a:rPr b="0" lang="en" sz="13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Highest sample wins</a:t>
              </a:r>
              <a:endParaRPr b="0" sz="13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111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300"/>
                <a:buFont typeface="Montserrat"/>
                <a:buChar char="●"/>
              </a:pPr>
              <a:r>
                <a:rPr b="0" lang="en" sz="1300">
                  <a:solidFill>
                    <a:srgbClr val="47556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Uncertain models still get chances</a:t>
              </a:r>
              <a:endParaRPr b="0" sz="13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46" name="Google Shape;246;p32"/>
          <p:cNvGrpSpPr/>
          <p:nvPr/>
        </p:nvGrpSpPr>
        <p:grpSpPr>
          <a:xfrm>
            <a:off x="4714825" y="1294300"/>
            <a:ext cx="3857700" cy="2095500"/>
            <a:chOff x="4714875" y="2000250"/>
            <a:chExt cx="3857700" cy="2095500"/>
          </a:xfrm>
        </p:grpSpPr>
        <p:sp>
          <p:nvSpPr>
            <p:cNvPr id="247" name="Google Shape;247;p32"/>
            <p:cNvSpPr/>
            <p:nvPr/>
          </p:nvSpPr>
          <p:spPr>
            <a:xfrm>
              <a:off x="4714875" y="2000250"/>
              <a:ext cx="3857700" cy="20955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 txBox="1"/>
            <p:nvPr/>
          </p:nvSpPr>
          <p:spPr>
            <a:xfrm>
              <a:off x="5000625" y="2190750"/>
              <a:ext cx="3286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8E83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LIVE EXAMPLE</a:t>
              </a:r>
              <a:endParaRPr b="1" sz="1400">
                <a:solidFill>
                  <a:srgbClr val="8E83E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49" name="Google Shape;249;p32"/>
            <p:cNvGrpSpPr/>
            <p:nvPr/>
          </p:nvGrpSpPr>
          <p:grpSpPr>
            <a:xfrm>
              <a:off x="5000625" y="2619375"/>
              <a:ext cx="3286200" cy="333300"/>
              <a:chOff x="5000625" y="2619375"/>
              <a:chExt cx="3286200" cy="333300"/>
            </a:xfrm>
          </p:grpSpPr>
          <p:sp>
            <p:nvSpPr>
              <p:cNvPr id="250" name="Google Shape;250;p32"/>
              <p:cNvSpPr/>
              <p:nvPr/>
            </p:nvSpPr>
            <p:spPr>
              <a:xfrm>
                <a:off x="5000625" y="2619375"/>
                <a:ext cx="3286200" cy="333300"/>
              </a:xfrm>
              <a:prstGeom prst="roundRect">
                <a:avLst>
                  <a:gd fmla="val 22857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32"/>
              <p:cNvSpPr txBox="1"/>
              <p:nvPr/>
            </p:nvSpPr>
            <p:spPr>
              <a:xfrm>
                <a:off x="5095875" y="2619375"/>
                <a:ext cx="30957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E293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GPT-4o </a:t>
                </a:r>
                <a:r>
                  <a:rPr b="1" lang="en" sz="12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0.78</a:t>
                </a:r>
                <a:endParaRPr b="1" sz="12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52" name="Google Shape;252;p32"/>
            <p:cNvGrpSpPr/>
            <p:nvPr/>
          </p:nvGrpSpPr>
          <p:grpSpPr>
            <a:xfrm>
              <a:off x="5000625" y="3000375"/>
              <a:ext cx="3286200" cy="333300"/>
              <a:chOff x="5000625" y="3000375"/>
              <a:chExt cx="3286200" cy="333300"/>
            </a:xfrm>
          </p:grpSpPr>
          <p:sp>
            <p:nvSpPr>
              <p:cNvPr id="253" name="Google Shape;253;p32"/>
              <p:cNvSpPr/>
              <p:nvPr/>
            </p:nvSpPr>
            <p:spPr>
              <a:xfrm>
                <a:off x="5000625" y="3000375"/>
                <a:ext cx="3286200" cy="333300"/>
              </a:xfrm>
              <a:prstGeom prst="roundRect">
                <a:avLst>
                  <a:gd fmla="val 22857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32"/>
              <p:cNvSpPr txBox="1"/>
              <p:nvPr/>
            </p:nvSpPr>
            <p:spPr>
              <a:xfrm>
                <a:off x="5095875" y="3000375"/>
                <a:ext cx="30957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E293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GPT-4o-mini </a:t>
                </a:r>
                <a:r>
                  <a:rPr b="1" lang="en" sz="1200">
                    <a:solidFill>
                      <a:srgbClr val="64748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0.74</a:t>
                </a:r>
                <a:endParaRPr b="1" sz="12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55" name="Google Shape;255;p32"/>
            <p:cNvGrpSpPr/>
            <p:nvPr/>
          </p:nvGrpSpPr>
          <p:grpSpPr>
            <a:xfrm>
              <a:off x="5000625" y="3381375"/>
              <a:ext cx="3286200" cy="333300"/>
              <a:chOff x="5000625" y="3381375"/>
              <a:chExt cx="3286200" cy="333300"/>
            </a:xfrm>
          </p:grpSpPr>
          <p:sp>
            <p:nvSpPr>
              <p:cNvPr id="256" name="Google Shape;256;p32"/>
              <p:cNvSpPr/>
              <p:nvPr/>
            </p:nvSpPr>
            <p:spPr>
              <a:xfrm>
                <a:off x="5000625" y="3381375"/>
                <a:ext cx="3286200" cy="333300"/>
              </a:xfrm>
              <a:prstGeom prst="roundRect">
                <a:avLst>
                  <a:gd fmla="val 22857" name="adj"/>
                </a:avLst>
              </a:prstGeom>
              <a:solidFill>
                <a:srgbClr val="8E83E4">
                  <a:alpha val="15000"/>
                </a:srgbClr>
              </a:solidFill>
              <a:ln cap="flat" cmpd="sng" w="9525">
                <a:solidFill>
                  <a:srgbClr val="8E83E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32"/>
              <p:cNvSpPr txBox="1"/>
              <p:nvPr/>
            </p:nvSpPr>
            <p:spPr>
              <a:xfrm>
                <a:off x="5095875" y="3381375"/>
                <a:ext cx="30957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1E293B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Claude-Haiku 0.81 </a:t>
                </a:r>
                <a:r>
                  <a:rPr b="0" lang="en" sz="900">
                    <a:solidFill>
                      <a:srgbClr val="8E83E4"/>
                    </a:solidFill>
                    <a:latin typeface="Montserrat ExtraBold"/>
                    <a:ea typeface="Montserrat ExtraBold"/>
                    <a:cs typeface="Montserrat ExtraBold"/>
                    <a:sym typeface="Montserrat ExtraBold"/>
                  </a:rPr>
                  <a:t>✓ SELECTED</a:t>
                </a:r>
                <a:endParaRPr b="1" sz="12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8E83E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One </a:t>
            </a:r>
            <a:r>
              <a:rPr b="0" lang="en" sz="2800">
                <a:solidFill>
                  <a:srgbClr val="8E83E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Request</a:t>
            </a:r>
            <a:r>
              <a:rPr b="0" lang="en" sz="2800">
                <a:solidFill>
                  <a:srgbClr val="8E83E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, End To End</a:t>
            </a:r>
            <a:endParaRPr b="0" sz="2800">
              <a:solidFill>
                <a:srgbClr val="8E83E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65" name="Google Shape;265;p33"/>
          <p:cNvGrpSpPr/>
          <p:nvPr/>
        </p:nvGrpSpPr>
        <p:grpSpPr>
          <a:xfrm>
            <a:off x="1638300" y="1143000"/>
            <a:ext cx="152400" cy="3009900"/>
            <a:chOff x="1638300" y="1143000"/>
            <a:chExt cx="152400" cy="3009900"/>
          </a:xfrm>
        </p:grpSpPr>
        <p:pic>
          <p:nvPicPr>
            <p:cNvPr id="266" name="Google Shape;266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04975" y="1143000"/>
              <a:ext cx="19200" cy="3009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33"/>
            <p:cNvSpPr/>
            <p:nvPr/>
          </p:nvSpPr>
          <p:spPr>
            <a:xfrm>
              <a:off x="1638300" y="1400175"/>
              <a:ext cx="152400" cy="152400"/>
            </a:xfrm>
            <a:prstGeom prst="ellipse">
              <a:avLst/>
            </a:prstGeom>
            <a:solidFill>
              <a:srgbClr val="CFE2F3"/>
            </a:solidFill>
            <a:ln cap="flat" cmpd="sng" w="1905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3"/>
            <p:cNvSpPr/>
            <p:nvPr/>
          </p:nvSpPr>
          <p:spPr>
            <a:xfrm>
              <a:off x="1638300" y="1847850"/>
              <a:ext cx="152400" cy="152400"/>
            </a:xfrm>
            <a:prstGeom prst="ellipse">
              <a:avLst/>
            </a:prstGeom>
            <a:solidFill>
              <a:srgbClr val="D9EAD3"/>
            </a:solidFill>
            <a:ln cap="flat" cmpd="sng" w="1905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3"/>
            <p:cNvSpPr/>
            <p:nvPr/>
          </p:nvSpPr>
          <p:spPr>
            <a:xfrm>
              <a:off x="1638300" y="2343150"/>
              <a:ext cx="152400" cy="152400"/>
            </a:xfrm>
            <a:prstGeom prst="ellipse">
              <a:avLst/>
            </a:prstGeom>
            <a:solidFill>
              <a:srgbClr val="FFF2CC"/>
            </a:solidFill>
            <a:ln cap="flat" cmpd="sng" w="1905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3"/>
            <p:cNvSpPr/>
            <p:nvPr/>
          </p:nvSpPr>
          <p:spPr>
            <a:xfrm>
              <a:off x="1638300" y="2847975"/>
              <a:ext cx="152400" cy="152400"/>
            </a:xfrm>
            <a:prstGeom prst="ellipse">
              <a:avLst/>
            </a:prstGeom>
            <a:solidFill>
              <a:srgbClr val="E6B8AF"/>
            </a:solidFill>
            <a:ln cap="flat" cmpd="sng" w="1905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/>
            <p:nvPr/>
          </p:nvSpPr>
          <p:spPr>
            <a:xfrm>
              <a:off x="1638300" y="3362325"/>
              <a:ext cx="152400" cy="1524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33"/>
          <p:cNvSpPr/>
          <p:nvPr/>
        </p:nvSpPr>
        <p:spPr>
          <a:xfrm>
            <a:off x="1905000" y="1285875"/>
            <a:ext cx="1714500" cy="381000"/>
          </a:xfrm>
          <a:prstGeom prst="roundRect">
            <a:avLst>
              <a:gd fmla="val 20000" name="adj"/>
            </a:avLst>
          </a:prstGeom>
          <a:solidFill>
            <a:srgbClr val="CFE2F3"/>
          </a:solidFill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Belief before</a:t>
            </a:r>
            <a:endParaRPr b="1" sz="11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1905000" y="1733550"/>
            <a:ext cx="1714500" cy="381000"/>
          </a:xfrm>
          <a:prstGeom prst="roundRect">
            <a:avLst>
              <a:gd fmla="val 20000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Chosen model</a:t>
            </a:r>
            <a:endParaRPr b="1" sz="11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1905000" y="2228850"/>
            <a:ext cx="1714500" cy="381000"/>
          </a:xfrm>
          <a:prstGeom prst="roundRect">
            <a:avLst>
              <a:gd fmla="val 2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Telemetry</a:t>
            </a:r>
            <a:endParaRPr b="1" sz="11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1905000" y="2733675"/>
            <a:ext cx="1714500" cy="381000"/>
          </a:xfrm>
          <a:prstGeom prst="roundRect">
            <a:avLst>
              <a:gd fmla="val 20000" name="adj"/>
            </a:avLst>
          </a:prstGeom>
          <a:solidFill>
            <a:srgbClr val="E6B8AF"/>
          </a:solidFill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Reward</a:t>
            </a:r>
            <a:endParaRPr b="1" sz="11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1905000" y="3248025"/>
            <a:ext cx="1714500" cy="381000"/>
          </a:xfrm>
          <a:prstGeom prst="roundRect">
            <a:avLst>
              <a:gd fmla="val 2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0" lIns="14287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Belief after</a:t>
            </a:r>
            <a:endParaRPr b="1" sz="1100">
              <a:solidFill>
                <a:srgbClr val="1E293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33"/>
          <p:cNvSpPr/>
          <p:nvPr/>
        </p:nvSpPr>
        <p:spPr>
          <a:xfrm>
            <a:off x="3810000" y="1285875"/>
            <a:ext cx="38100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GPT-4o = Beta(8,3)</a:t>
            </a:r>
            <a:endParaRPr b="1" sz="1200">
              <a:solidFill>
                <a:srgbClr val="4755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3810000" y="1733550"/>
            <a:ext cx="38100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GPT-4o</a:t>
            </a:r>
            <a:endParaRPr b="1" sz="1200">
              <a:solidFill>
                <a:srgbClr val="4755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3810000" y="2228850"/>
            <a:ext cx="38100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Validity_Score = 1.0</a:t>
            </a:r>
            <a:endParaRPr b="1" sz="1200">
              <a:solidFill>
                <a:srgbClr val="4755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3810000" y="2733675"/>
            <a:ext cx="38100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0.875</a:t>
            </a:r>
            <a:endParaRPr b="1" sz="1200">
              <a:solidFill>
                <a:srgbClr val="4755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3810000" y="3248025"/>
            <a:ext cx="3810000" cy="38100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GPT-4o = Beta(8.875, 3.125)</a:t>
            </a:r>
            <a:endParaRPr b="1" sz="1200">
              <a:solidFill>
                <a:srgbClr val="47556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643492" y="1816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One Request, End To End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643500" y="682215"/>
            <a:ext cx="7995300" cy="39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before the request</a:t>
            </a: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Evaluations</a:t>
            </a:r>
            <a:b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State after the request</a:t>
            </a:r>
            <a:br>
              <a:rPr b="1" lang="en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graphicFrame>
        <p:nvGraphicFramePr>
          <p:cNvPr id="288" name="Google Shape;288;p34"/>
          <p:cNvGraphicFramePr/>
          <p:nvPr/>
        </p:nvGraphicFramePr>
        <p:xfrm>
          <a:off x="658831" y="9282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{F786366E-AF51-43F1-94F2-FB0FE6263C22}</a:tableStyleId>
              </a:tblPr>
              <a:tblGrid>
                <a:gridCol w="1363850"/>
                <a:gridCol w="950275"/>
                <a:gridCol w="736025"/>
                <a:gridCol w="980950"/>
              </a:tblGrid>
              <a:tr h="16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alpha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beta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confidence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gpt-4o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0.727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gpt-4o-mini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claude-haiku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9" name="Google Shape;289;p34"/>
          <p:cNvGraphicFramePr/>
          <p:nvPr/>
        </p:nvGraphicFramePr>
        <p:xfrm>
          <a:off x="670305" y="3349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{F786366E-AF51-43F1-94F2-FB0FE6263C22}</a:tableStyleId>
              </a:tblPr>
              <a:tblGrid>
                <a:gridCol w="1352375"/>
                <a:gridCol w="950275"/>
                <a:gridCol w="736025"/>
                <a:gridCol w="980950"/>
              </a:tblGrid>
              <a:tr h="17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model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alpha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beta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confidence</a:t>
                      </a:r>
                      <a:endParaRPr b="1"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gpt-4o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8.743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3.257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0.728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gpt-4o-mini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claude-haiku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0.6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0" name="Google Shape;290;p34"/>
          <p:cNvGraphicFramePr/>
          <p:nvPr/>
        </p:nvGraphicFramePr>
        <p:xfrm>
          <a:off x="658837" y="22150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{F786366E-AF51-43F1-94F2-FB0FE6263C22}</a:tableStyleId>
              </a:tblPr>
              <a:tblGrid>
                <a:gridCol w="3913175"/>
              </a:tblGrid>
              <a:tr h="18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Primary: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gpt-4o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Telemetry: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Latency: 3400 ms | Validity: 1.0 | Retries: 0 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</a:rPr>
                        <a:t>Reward: 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0.743 (latency=0.043, validity=0.5, retry=0.2)</a:t>
                      </a:r>
                      <a:endParaRPr sz="1000"/>
                    </a:p>
                  </a:txBody>
                  <a:tcPr marT="0" marB="0" marR="0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296" name="Google Shape;29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5"/>
          <p:cNvSpPr txBox="1"/>
          <p:nvPr/>
        </p:nvSpPr>
        <p:spPr>
          <a:xfrm>
            <a:off x="571500" y="581850"/>
            <a:ext cx="80010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rgbClr val="8E83E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Production Hardening I: Expert Priors And Decay</a:t>
            </a:r>
            <a:endParaRPr b="0" sz="1800">
              <a:solidFill>
                <a:srgbClr val="64748B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98" name="Google Shape;298;p35"/>
          <p:cNvSpPr/>
          <p:nvPr/>
        </p:nvSpPr>
        <p:spPr>
          <a:xfrm>
            <a:off x="571500" y="1524000"/>
            <a:ext cx="3714900" cy="2476500"/>
          </a:xfrm>
          <a:prstGeom prst="roundRect">
            <a:avLst>
              <a:gd fmla="val 461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E83E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psychology</a:t>
            </a:r>
            <a:r>
              <a:rPr b="1" lang="en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Expert Priors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3341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Avoid the "Cold Start" problem by initializing with domain knowledge.</a:t>
            </a:r>
            <a:endParaRPr b="0" sz="1300">
              <a:solidFill>
                <a:srgbClr val="33415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ontserrat"/>
              <a:buChar char="●"/>
            </a:pPr>
            <a:r>
              <a:rPr b="0" lang="en" sz="11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Start with informed beliefs:</a:t>
            </a:r>
            <a:r>
              <a:rPr lang="en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Don't begin with a blank slate.</a:t>
            </a:r>
            <a:endParaRPr sz="110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ontserrat"/>
              <a:buChar char="●"/>
            </a:pPr>
            <a:r>
              <a:rPr b="0" lang="en" sz="11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Example:</a:t>
            </a:r>
            <a:r>
              <a:rPr lang="en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gpt-4o = </a:t>
            </a:r>
            <a:r>
              <a:rPr b="1" lang="en" sz="1100">
                <a:solidFill>
                  <a:srgbClr val="8E83E4"/>
                </a:solidFill>
                <a:latin typeface="Courier New"/>
                <a:ea typeface="Courier New"/>
                <a:cs typeface="Courier New"/>
                <a:sym typeface="Courier New"/>
              </a:rPr>
              <a:t>Beta(8,3)</a:t>
            </a:r>
            <a:r>
              <a:rPr lang="en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instead of a uniform </a:t>
            </a:r>
            <a:r>
              <a:rPr lang="en" sz="11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Beta(1,1)</a:t>
            </a:r>
            <a:r>
              <a:rPr lang="en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4857750" y="1524000"/>
            <a:ext cx="3714900" cy="2476500"/>
          </a:xfrm>
          <a:prstGeom prst="roundRect">
            <a:avLst>
              <a:gd fmla="val 4615" name="adj"/>
            </a:avLst>
          </a:prstGeom>
          <a:solidFill>
            <a:srgbClr val="F8FAFC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8E83E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history_toggle_off</a:t>
            </a:r>
            <a:r>
              <a:rPr b="1" lang="en" sz="18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Decay</a:t>
            </a:r>
            <a:endParaRPr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33415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Ensure the system remains adaptive to model performance shifts over time.</a:t>
            </a:r>
            <a:endParaRPr b="0" sz="1300">
              <a:solidFill>
                <a:srgbClr val="33415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98450" lvl="0" marL="457200" rtl="0" algn="l">
              <a:spcBef>
                <a:spcPts val="1125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ontserrat"/>
              <a:buChar char="●"/>
            </a:pPr>
            <a:r>
              <a:rPr b="0" lang="en" sz="11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Adaptation:</a:t>
            </a:r>
            <a:r>
              <a:rPr lang="en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Every N requests, shrink ⍺ and β toward 1.</a:t>
            </a:r>
            <a:endParaRPr sz="110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spcBef>
                <a:spcPts val="75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Montserrat"/>
              <a:buChar char="●"/>
            </a:pPr>
            <a:r>
              <a:rPr b="0" lang="en" sz="1100">
                <a:solidFill>
                  <a:srgbClr val="0F172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Goal:</a:t>
            </a:r>
            <a:r>
              <a:rPr lang="en" sz="1100">
                <a:solidFill>
                  <a:srgbClr val="475569"/>
                </a:solidFill>
                <a:latin typeface="Montserrat"/>
                <a:ea typeface="Montserrat"/>
                <a:cs typeface="Montserrat"/>
                <a:sym typeface="Montserrat"/>
              </a:rPr>
              <a:t> Prevent old evidence from over-weighting future routing decisions.</a:t>
            </a:r>
            <a:endParaRPr sz="1100">
              <a:solidFill>
                <a:srgbClr val="47556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>
            <p:ph type="title"/>
          </p:nvPr>
        </p:nvSpPr>
        <p:spPr>
          <a:xfrm>
            <a:off x="643501" y="350275"/>
            <a:ext cx="7512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Production Hardening I: Expert Prior</a:t>
            </a: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s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6"/>
          <p:cNvSpPr txBox="1"/>
          <p:nvPr>
            <p:ph idx="1" type="body"/>
          </p:nvPr>
        </p:nvSpPr>
        <p:spPr>
          <a:xfrm>
            <a:off x="643500" y="922975"/>
            <a:ext cx="7995300" cy="3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e labels and numbers bold in the graphs" id="306" name="Google Shape;3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00" y="922992"/>
            <a:ext cx="4055400" cy="3109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e labels and numbers bold in the graphs" id="307" name="Google Shape;307;p36"/>
          <p:cNvPicPr preferRelativeResize="0"/>
          <p:nvPr/>
        </p:nvPicPr>
        <p:blipFill rotWithShape="1">
          <a:blip r:embed="rId4">
            <a:alphaModFix/>
          </a:blip>
          <a:srcRect b="-2025" l="0" r="0" t="-245"/>
          <a:stretch/>
        </p:blipFill>
        <p:spPr>
          <a:xfrm>
            <a:off x="4844540" y="930657"/>
            <a:ext cx="3801925" cy="31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7"/>
          <p:cNvSpPr txBox="1"/>
          <p:nvPr>
            <p:ph type="title"/>
          </p:nvPr>
        </p:nvSpPr>
        <p:spPr>
          <a:xfrm>
            <a:off x="643501" y="350275"/>
            <a:ext cx="7512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Production Hardening I: Decay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7"/>
          <p:cNvSpPr txBox="1"/>
          <p:nvPr>
            <p:ph idx="1" type="body"/>
          </p:nvPr>
        </p:nvSpPr>
        <p:spPr>
          <a:xfrm>
            <a:off x="574350" y="917550"/>
            <a:ext cx="7995300" cy="3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the strong model degrades, stale history becomes a liability.</a:t>
            </a: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lang="en" sz="13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x-axis: Time    </a:t>
            </a:r>
            <a:br>
              <a:rPr b="1"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y-axis: Routing Quality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581" y="1252300"/>
            <a:ext cx="7728224" cy="247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643492" y="426919"/>
            <a:ext cx="67575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Production Hardening I: Decay</a:t>
            </a:r>
            <a:endParaRPr/>
          </a:p>
        </p:txBody>
      </p:sp>
      <p:sp>
        <p:nvSpPr>
          <p:cNvPr id="320" name="Google Shape;320;p38"/>
          <p:cNvSpPr txBox="1"/>
          <p:nvPr>
            <p:ph idx="1" type="body"/>
          </p:nvPr>
        </p:nvSpPr>
        <p:spPr>
          <a:xfrm>
            <a:off x="643500" y="958175"/>
            <a:ext cx="6975900" cy="3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8"/>
          <p:cNvSpPr txBox="1"/>
          <p:nvPr>
            <p:ph idx="3" type="subTitle"/>
          </p:nvPr>
        </p:nvSpPr>
        <p:spPr>
          <a:xfrm>
            <a:off x="643492" y="4822294"/>
            <a:ext cx="3361200" cy="2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e labels and numbers bold in the graphs" id="322" name="Google Shape;32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00" y="958175"/>
            <a:ext cx="6975900" cy="159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e labels and numbers bold in the graphs" id="323" name="Google Shape;323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500" y="2655125"/>
            <a:ext cx="6975900" cy="15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329" name="Google Shape;3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9"/>
          <p:cNvSpPr txBox="1"/>
          <p:nvPr/>
        </p:nvSpPr>
        <p:spPr>
          <a:xfrm>
            <a:off x="638175" y="419100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8E83E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Production Hardening II: Safety Layers</a:t>
            </a:r>
            <a:endParaRPr sz="2800">
              <a:solidFill>
                <a:srgbClr val="8E83E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31" name="Google Shape;331;p39"/>
          <p:cNvGrpSpPr/>
          <p:nvPr/>
        </p:nvGrpSpPr>
        <p:grpSpPr>
          <a:xfrm>
            <a:off x="638175" y="1428750"/>
            <a:ext cx="2476500" cy="2476500"/>
            <a:chOff x="638175" y="1428750"/>
            <a:chExt cx="2476500" cy="2476500"/>
          </a:xfrm>
        </p:grpSpPr>
        <p:sp>
          <p:nvSpPr>
            <p:cNvPr id="332" name="Google Shape;332;p39"/>
            <p:cNvSpPr/>
            <p:nvPr/>
          </p:nvSpPr>
          <p:spPr>
            <a:xfrm>
              <a:off x="638175" y="1428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FCE5CD"/>
            </a:solidFill>
            <a:ln cap="flat" cmpd="sng" w="1430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9"/>
            <p:cNvSpPr txBox="1"/>
            <p:nvPr/>
          </p:nvSpPr>
          <p:spPr>
            <a:xfrm>
              <a:off x="638175" y="1428750"/>
              <a:ext cx="2476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8E83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</a:t>
              </a:r>
              <a:r>
                <a:rPr b="1" lang="en" sz="18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Fallback</a:t>
              </a:r>
              <a:endParaRPr b="1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Protects against low-confidence choices.</a:t>
              </a:r>
              <a:endParaRPr b="0" sz="11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4" name="Google Shape;334;p39"/>
          <p:cNvGrpSpPr/>
          <p:nvPr/>
        </p:nvGrpSpPr>
        <p:grpSpPr>
          <a:xfrm>
            <a:off x="3333750" y="1428750"/>
            <a:ext cx="2476500" cy="2476500"/>
            <a:chOff x="3333750" y="1428750"/>
            <a:chExt cx="2476500" cy="2476500"/>
          </a:xfrm>
        </p:grpSpPr>
        <p:sp>
          <p:nvSpPr>
            <p:cNvPr id="335" name="Google Shape;335;p39"/>
            <p:cNvSpPr/>
            <p:nvPr/>
          </p:nvSpPr>
          <p:spPr>
            <a:xfrm>
              <a:off x="3333750" y="1428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FCE5CD"/>
            </a:solidFill>
            <a:ln cap="flat" cmpd="sng" w="1430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9"/>
            <p:cNvSpPr txBox="1"/>
            <p:nvPr/>
          </p:nvSpPr>
          <p:spPr>
            <a:xfrm>
              <a:off x="3333750" y="1428750"/>
              <a:ext cx="2476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Shadow Evaluation</a:t>
              </a:r>
              <a:endParaRPr b="1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Learns safely in the background</a:t>
              </a:r>
              <a:r>
                <a:rPr lang="en" sz="11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</a:t>
              </a:r>
              <a:endParaRPr b="0" sz="11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7" name="Google Shape;337;p39"/>
          <p:cNvGrpSpPr/>
          <p:nvPr/>
        </p:nvGrpSpPr>
        <p:grpSpPr>
          <a:xfrm>
            <a:off x="6029325" y="1428750"/>
            <a:ext cx="2476500" cy="2476500"/>
            <a:chOff x="6029325" y="1428750"/>
            <a:chExt cx="2476500" cy="2476500"/>
          </a:xfrm>
        </p:grpSpPr>
        <p:sp>
          <p:nvSpPr>
            <p:cNvPr id="338" name="Google Shape;338;p39"/>
            <p:cNvSpPr/>
            <p:nvPr/>
          </p:nvSpPr>
          <p:spPr>
            <a:xfrm>
              <a:off x="6029325" y="1428750"/>
              <a:ext cx="2476500" cy="2476500"/>
            </a:xfrm>
            <a:prstGeom prst="roundRect">
              <a:avLst>
                <a:gd fmla="val 6153" name="adj"/>
              </a:avLst>
            </a:prstGeom>
            <a:solidFill>
              <a:srgbClr val="FCE5CD"/>
            </a:solidFill>
            <a:ln cap="flat" cmpd="sng" w="14300">
              <a:solidFill>
                <a:srgbClr val="8E83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9"/>
            <p:cNvSpPr txBox="1"/>
            <p:nvPr/>
          </p:nvSpPr>
          <p:spPr>
            <a:xfrm>
              <a:off x="6029325" y="1428750"/>
              <a:ext cx="2476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8E83E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n" sz="1800">
                  <a:latin typeface="Montserrat"/>
                  <a:ea typeface="Montserrat"/>
                  <a:cs typeface="Montserrat"/>
                  <a:sym typeface="Montserrat"/>
                </a:rPr>
                <a:t>Circuit Breakers</a:t>
              </a:r>
              <a:endParaRPr b="1" sz="11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Remove unhealthy models.</a:t>
              </a:r>
              <a:endParaRPr b="0" sz="688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/>
          <p:nvPr>
            <p:ph type="title"/>
          </p:nvPr>
        </p:nvSpPr>
        <p:spPr>
          <a:xfrm>
            <a:off x="643501" y="350275"/>
            <a:ext cx="7512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0"/>
          <p:cNvSpPr txBox="1"/>
          <p:nvPr>
            <p:ph idx="1" type="body"/>
          </p:nvPr>
        </p:nvSpPr>
        <p:spPr>
          <a:xfrm>
            <a:off x="574350" y="909792"/>
            <a:ext cx="7995300" cy="3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40"/>
          <p:cNvSpPr/>
          <p:nvPr/>
        </p:nvSpPr>
        <p:spPr>
          <a:xfrm>
            <a:off x="5748625" y="1015314"/>
            <a:ext cx="2821200" cy="7233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Always GPT-4o</a:t>
            </a:r>
            <a:br>
              <a:rPr b="1" lang="en" sz="1200"/>
            </a:br>
            <a:br>
              <a:rPr lang="en"/>
            </a:br>
            <a:r>
              <a:rPr lang="en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Strongest quality, highest cost</a:t>
            </a:r>
            <a:endParaRPr sz="1200"/>
          </a:p>
        </p:txBody>
      </p:sp>
      <p:sp>
        <p:nvSpPr>
          <p:cNvPr id="347" name="Google Shape;347;p40"/>
          <p:cNvSpPr/>
          <p:nvPr/>
        </p:nvSpPr>
        <p:spPr>
          <a:xfrm>
            <a:off x="5748625" y="1964775"/>
            <a:ext cx="2821200" cy="1074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Bayesian Router</a:t>
            </a:r>
            <a:br>
              <a:rPr b="1" lang="en" sz="1300">
                <a:solidFill>
                  <a:srgbClr val="15803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2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Sits in the middle by using the strong model when needed and cheaper models when safe</a:t>
            </a:r>
            <a:endParaRPr sz="1200"/>
          </a:p>
        </p:txBody>
      </p:sp>
      <p:sp>
        <p:nvSpPr>
          <p:cNvPr id="348" name="Google Shape;348;p40"/>
          <p:cNvSpPr/>
          <p:nvPr/>
        </p:nvSpPr>
        <p:spPr>
          <a:xfrm>
            <a:off x="5769475" y="3232132"/>
            <a:ext cx="2779500" cy="7233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Always GPT-4o-mini</a:t>
            </a:r>
            <a:br>
              <a:rPr b="1" lang="en" sz="1200"/>
            </a:br>
            <a:br>
              <a:rPr lang="en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100">
                <a:solidFill>
                  <a:srgbClr val="1F2937"/>
                </a:solidFill>
                <a:latin typeface="Montserrat"/>
                <a:ea typeface="Montserrat"/>
                <a:cs typeface="Montserrat"/>
                <a:sym typeface="Montserrat"/>
              </a:rPr>
              <a:t>Weaker quality, lowest cost</a:t>
            </a:r>
            <a:endParaRPr sz="1200"/>
          </a:p>
        </p:txBody>
      </p:sp>
      <p:pic>
        <p:nvPicPr>
          <p:cNvPr id="349" name="Google Shape;3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00" y="909800"/>
            <a:ext cx="4890926" cy="304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>
            <p:ph type="title"/>
          </p:nvPr>
        </p:nvSpPr>
        <p:spPr>
          <a:xfrm>
            <a:off x="643501" y="350275"/>
            <a:ext cx="7512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Results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41"/>
          <p:cNvSpPr txBox="1"/>
          <p:nvPr>
            <p:ph idx="1" type="body"/>
          </p:nvPr>
        </p:nvSpPr>
        <p:spPr>
          <a:xfrm>
            <a:off x="574350" y="917550"/>
            <a:ext cx="7995300" cy="3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e labels and numbers bold in the graphs" id="356" name="Google Shape;35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500" y="1332825"/>
            <a:ext cx="3968076" cy="220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e labels and numbers bold in the graphs" id="357" name="Google Shape;35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900" y="1352200"/>
            <a:ext cx="3365199" cy="22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363" name="Google Shape;3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2"/>
          <p:cNvSpPr txBox="1"/>
          <p:nvPr>
            <p:ph type="title"/>
          </p:nvPr>
        </p:nvSpPr>
        <p:spPr>
          <a:xfrm>
            <a:off x="642938" y="428625"/>
            <a:ext cx="78582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Limits &amp; Future Work</a:t>
            </a:r>
            <a:endParaRPr b="0" i="0" sz="3200">
              <a:solidFill>
                <a:srgbClr val="8E83E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5" name="Google Shape;365;p42"/>
          <p:cNvSpPr txBox="1"/>
          <p:nvPr>
            <p:ph idx="1" type="body"/>
          </p:nvPr>
        </p:nvSpPr>
        <p:spPr>
          <a:xfrm>
            <a:off x="574350" y="917550"/>
            <a:ext cx="7995300" cy="3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6" name="Google Shape;366;p42"/>
          <p:cNvGrpSpPr/>
          <p:nvPr/>
        </p:nvGrpSpPr>
        <p:grpSpPr>
          <a:xfrm>
            <a:off x="642938" y="1381125"/>
            <a:ext cx="3619500" cy="2667000"/>
            <a:chOff x="642938" y="1381125"/>
            <a:chExt cx="3619500" cy="2667000"/>
          </a:xfrm>
        </p:grpSpPr>
        <p:sp>
          <p:nvSpPr>
            <p:cNvPr id="367" name="Google Shape;367;p42"/>
            <p:cNvSpPr/>
            <p:nvPr/>
          </p:nvSpPr>
          <p:spPr>
            <a:xfrm>
              <a:off x="642938" y="1381125"/>
              <a:ext cx="3619500" cy="26670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2"/>
            <p:cNvSpPr txBox="1"/>
            <p:nvPr/>
          </p:nvSpPr>
          <p:spPr>
            <a:xfrm>
              <a:off x="928688" y="17019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8E83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warning_amber</a:t>
              </a:r>
              <a:endParaRPr sz="2400">
                <a:solidFill>
                  <a:srgbClr val="8E83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9" name="Google Shape;369;p42"/>
            <p:cNvSpPr txBox="1"/>
            <p:nvPr/>
          </p:nvSpPr>
          <p:spPr>
            <a:xfrm>
              <a:off x="928688" y="2095500"/>
              <a:ext cx="3048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Limits</a:t>
              </a:r>
              <a:endParaRPr b="1" sz="16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Non-contextual: </a:t>
              </a:r>
              <a:r>
                <a:rPr lang="en" sz="1100">
                  <a:solidFill>
                    <a:srgbClr val="3341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Learns overall model health</a:t>
              </a:r>
              <a:endParaRPr sz="11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Reward: </a:t>
              </a:r>
              <a:r>
                <a:rPr lang="en" sz="1100">
                  <a:solidFill>
                    <a:srgbClr val="3341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These are</a:t>
              </a:r>
              <a:r>
                <a:rPr lang="en" sz="1100">
                  <a:solidFill>
                    <a:srgbClr val="3341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proxy signals not the ground truth</a:t>
              </a:r>
              <a:endParaRPr sz="11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Pragmatic Adaptation: </a:t>
              </a:r>
              <a:r>
                <a:rPr lang="en" sz="1100">
                  <a:solidFill>
                    <a:srgbClr val="3341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 applied implementation, not an exact textbook Bayes approach.</a:t>
              </a:r>
              <a:endParaRPr sz="11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70" name="Google Shape;370;p42"/>
          <p:cNvGrpSpPr/>
          <p:nvPr/>
        </p:nvGrpSpPr>
        <p:grpSpPr>
          <a:xfrm>
            <a:off x="4881563" y="1381125"/>
            <a:ext cx="3619500" cy="2667000"/>
            <a:chOff x="4881563" y="1381125"/>
            <a:chExt cx="3619500" cy="2667000"/>
          </a:xfrm>
        </p:grpSpPr>
        <p:sp>
          <p:nvSpPr>
            <p:cNvPr id="371" name="Google Shape;371;p42"/>
            <p:cNvSpPr/>
            <p:nvPr/>
          </p:nvSpPr>
          <p:spPr>
            <a:xfrm>
              <a:off x="4881563" y="1381125"/>
              <a:ext cx="3619500" cy="2667000"/>
            </a:xfrm>
            <a:prstGeom prst="roundRect">
              <a:avLst>
                <a:gd fmla="val 7142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2"/>
            <p:cNvSpPr txBox="1"/>
            <p:nvPr/>
          </p:nvSpPr>
          <p:spPr>
            <a:xfrm>
              <a:off x="5167313" y="17019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8E83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8E83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3" name="Google Shape;373;p42"/>
            <p:cNvSpPr txBox="1"/>
            <p:nvPr/>
          </p:nvSpPr>
          <p:spPr>
            <a:xfrm>
              <a:off x="5167313" y="2095500"/>
              <a:ext cx="30480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Future Work</a:t>
              </a:r>
              <a:endParaRPr b="1" sz="16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Contextual Routing</a:t>
              </a:r>
              <a:r>
                <a:rPr lang="en" sz="1100">
                  <a:solidFill>
                    <a:srgbClr val="3341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 R</a:t>
              </a:r>
              <a:r>
                <a:rPr lang="en" sz="1100">
                  <a:solidFill>
                    <a:srgbClr val="33415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outing logic based on specific query types</a:t>
              </a:r>
              <a:endParaRPr sz="1100">
                <a:solidFill>
                  <a:srgbClr val="334155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type="title"/>
          </p:nvPr>
        </p:nvSpPr>
        <p:spPr>
          <a:xfrm>
            <a:off x="643501" y="350275"/>
            <a:ext cx="7512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r>
              <a:rPr lang="en" sz="2800">
                <a:latin typeface="Montserrat SemiBold"/>
                <a:ea typeface="Montserrat SemiBold"/>
                <a:cs typeface="Montserrat SemiBold"/>
                <a:sym typeface="Montserrat SemiBold"/>
              </a:rPr>
              <a:t>Future Work</a:t>
            </a:r>
            <a:endParaRPr sz="28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3"/>
          <p:cNvSpPr txBox="1"/>
          <p:nvPr>
            <p:ph idx="1" type="body"/>
          </p:nvPr>
        </p:nvSpPr>
        <p:spPr>
          <a:xfrm>
            <a:off x="574350" y="917550"/>
            <a:ext cx="7995300" cy="3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ake the labels and numbers bold in the graphs" id="380" name="Google Shape;3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50" y="917550"/>
            <a:ext cx="7995300" cy="157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 the labels and numbers bold in the graphs" id="381" name="Google Shape;38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350" y="2728900"/>
            <a:ext cx="7995300" cy="149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4"/>
          <p:cNvSpPr/>
          <p:nvPr/>
        </p:nvSpPr>
        <p:spPr>
          <a:xfrm>
            <a:off x="-19936" y="4346550"/>
            <a:ext cx="9183900" cy="882300"/>
          </a:xfrm>
          <a:prstGeom prst="rect">
            <a:avLst/>
          </a:prstGeom>
          <a:solidFill>
            <a:srgbClr val="8E83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8E83E4"/>
              </a:solidFill>
            </a:endParaRPr>
          </a:p>
        </p:txBody>
      </p:sp>
      <p:pic>
        <p:nvPicPr>
          <p:cNvPr id="387" name="Google Shape;3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1468" y="4501355"/>
            <a:ext cx="553002" cy="57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4"/>
          <p:cNvSpPr txBox="1"/>
          <p:nvPr/>
        </p:nvSpPr>
        <p:spPr>
          <a:xfrm>
            <a:off x="642938" y="428625"/>
            <a:ext cx="7858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8E83E4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Thank You</a:t>
            </a:r>
            <a:endParaRPr b="0" sz="4000">
              <a:solidFill>
                <a:srgbClr val="8E83E4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389" name="Google Shape;389;p44"/>
          <p:cNvGrpSpPr/>
          <p:nvPr/>
        </p:nvGrpSpPr>
        <p:grpSpPr>
          <a:xfrm>
            <a:off x="638175" y="1524000"/>
            <a:ext cx="7620000" cy="1905000"/>
            <a:chOff x="638175" y="1524000"/>
            <a:chExt cx="7620000" cy="1905000"/>
          </a:xfrm>
        </p:grpSpPr>
        <p:sp>
          <p:nvSpPr>
            <p:cNvPr id="390" name="Google Shape;390;p44"/>
            <p:cNvSpPr/>
            <p:nvPr/>
          </p:nvSpPr>
          <p:spPr>
            <a:xfrm>
              <a:off x="638175" y="1524000"/>
              <a:ext cx="3619500" cy="1905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4"/>
            <p:cNvSpPr txBox="1"/>
            <p:nvPr/>
          </p:nvSpPr>
          <p:spPr>
            <a:xfrm>
              <a:off x="923925" y="185648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8E83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2480">
                <a:solidFill>
                  <a:srgbClr val="8E83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2" name="Google Shape;392;p44"/>
            <p:cNvSpPr txBox="1"/>
            <p:nvPr/>
          </p:nvSpPr>
          <p:spPr>
            <a:xfrm>
              <a:off x="923925" y="2286000"/>
              <a:ext cx="304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95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GitHub Repository</a:t>
              </a:r>
              <a:endParaRPr b="1" sz="1295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18" u="sng">
                  <a:solidFill>
                    <a:srgbClr val="51A2D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github.com/shrinidhi-mahishi/model_routing</a:t>
              </a:r>
              <a:endParaRPr b="0" sz="1018" u="sng">
                <a:solidFill>
                  <a:srgbClr val="51A2D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3" name="Google Shape;393;p44"/>
            <p:cNvSpPr/>
            <p:nvPr/>
          </p:nvSpPr>
          <p:spPr>
            <a:xfrm>
              <a:off x="4638675" y="1524000"/>
              <a:ext cx="3619500" cy="1905000"/>
            </a:xfrm>
            <a:prstGeom prst="roundRect">
              <a:avLst>
                <a:gd fmla="val 10000" name="adj"/>
              </a:avLst>
            </a:prstGeom>
            <a:solidFill>
              <a:srgbClr val="F8F9FA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4"/>
            <p:cNvSpPr txBox="1"/>
            <p:nvPr/>
          </p:nvSpPr>
          <p:spPr>
            <a:xfrm>
              <a:off x="4924425" y="1856486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80">
                  <a:solidFill>
                    <a:srgbClr val="8E83E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download_for_offline</a:t>
              </a:r>
              <a:endParaRPr sz="2480">
                <a:solidFill>
                  <a:srgbClr val="8E83E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95" name="Google Shape;395;p44"/>
            <p:cNvSpPr txBox="1"/>
            <p:nvPr/>
          </p:nvSpPr>
          <p:spPr>
            <a:xfrm>
              <a:off x="4924425" y="2286000"/>
              <a:ext cx="304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PyPI Package</a:t>
              </a:r>
              <a:endParaRPr b="1" sz="14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34155"/>
                  </a:solidFill>
                  <a:highlight>
                    <a:srgbClr val="F1F5F9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pip install bayesian-router</a:t>
              </a:r>
              <a:endParaRPr b="0" sz="1100">
                <a:solidFill>
                  <a:srgbClr val="334155"/>
                </a:solidFill>
                <a:highlight>
                  <a:srgbClr val="F1F5F9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5"/>
          <p:cNvSpPr txBox="1"/>
          <p:nvPr>
            <p:ph type="title"/>
          </p:nvPr>
        </p:nvSpPr>
        <p:spPr>
          <a:xfrm>
            <a:off x="2875732" y="1623038"/>
            <a:ext cx="5436300" cy="135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vConf.CZ Presentatio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1A2DA"/>
      </a:accent1>
      <a:accent2>
        <a:srgbClr val="294172"/>
      </a:accent2>
      <a:accent3>
        <a:srgbClr val="E59728"/>
      </a:accent3>
      <a:accent4>
        <a:srgbClr val="79DB32"/>
      </a:accent4>
      <a:accent5>
        <a:srgbClr val="A07CBC"/>
      </a:accent5>
      <a:accent6>
        <a:srgbClr val="FFFFFF"/>
      </a:accent6>
      <a:hlink>
        <a:srgbClr val="51A2D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